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/>
              <a:t>Risk score per sample (14 samples × 3 runs, zero spread)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 (3 runs identical)</c:v>
                </c:pt>
              </c:strCache>
            </c:strRef>
          </c:tx>
          <c:dPt>
            <c:idx val="0"/>
            <c:spPr>
              <a:solidFill>
                <a:srgbClr val="2E9D5B"/>
              </a:solidFill>
            </c:spPr>
          </c:dPt>
          <c:dPt>
            <c:idx val="1"/>
            <c:spPr>
              <a:solidFill>
                <a:srgbClr val="2E9D5B"/>
              </a:solidFill>
            </c:spPr>
          </c:dPt>
          <c:dPt>
            <c:idx val="2"/>
            <c:spPr>
              <a:solidFill>
                <a:srgbClr val="CE1126"/>
              </a:solidFill>
            </c:spPr>
          </c:dPt>
          <c:dPt>
            <c:idx val="3"/>
            <c:spPr>
              <a:solidFill>
                <a:srgbClr val="E8761C"/>
              </a:solidFill>
            </c:spPr>
          </c:dPt>
          <c:dPt>
            <c:idx val="4"/>
            <c:spPr>
              <a:solidFill>
                <a:srgbClr val="CE1126"/>
              </a:solidFill>
            </c:spPr>
          </c:dPt>
          <c:dPt>
            <c:idx val="5"/>
            <c:spPr>
              <a:solidFill>
                <a:srgbClr val="E8761C"/>
              </a:solidFill>
            </c:spPr>
          </c:dPt>
          <c:dPt>
            <c:idx val="6"/>
            <c:spPr>
              <a:solidFill>
                <a:srgbClr val="E8761C"/>
              </a:solidFill>
            </c:spPr>
          </c:dPt>
          <c:dPt>
            <c:idx val="7"/>
            <c:spPr>
              <a:solidFill>
                <a:srgbClr val="2E9D5B"/>
              </a:solidFill>
            </c:spPr>
          </c:dPt>
          <c:dPt>
            <c:idx val="8"/>
            <c:spPr>
              <a:solidFill>
                <a:srgbClr val="CE1126"/>
              </a:solidFill>
            </c:spPr>
          </c:dPt>
          <c:dPt>
            <c:idx val="9"/>
            <c:spPr>
              <a:solidFill>
                <a:srgbClr val="E8761C"/>
              </a:solidFill>
            </c:spPr>
          </c:dPt>
          <c:dPt>
            <c:idx val="10"/>
            <c:spPr>
              <a:solidFill>
                <a:srgbClr val="E8761C"/>
              </a:solidFill>
            </c:spPr>
          </c:dPt>
          <c:dPt>
            <c:idx val="11"/>
            <c:spPr>
              <a:solidFill>
                <a:srgbClr val="2E9D5B"/>
              </a:solidFill>
            </c:spPr>
          </c:dPt>
          <c:dPt>
            <c:idx val="12"/>
            <c:spPr>
              <a:solidFill>
                <a:srgbClr val="E8761C"/>
              </a:solidFill>
            </c:spPr>
          </c:dPt>
          <c:dPt>
            <c:idx val="13"/>
            <c:spPr>
              <a:solidFill>
                <a:srgbClr val="E8761C"/>
              </a:solidFill>
            </c:spPr>
          </c:dPt>
          <c:cat>
            <c:strRef>
              <c:f>Sheet1!$A$2:$A$15</c:f>
              <c:strCache>
                <c:ptCount val="1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</c:v>
                </c:pt>
                <c:pt idx="1">
                  <c:v>1</c:v>
                </c:pt>
                <c:pt idx="2">
                  <c:v>100</c:v>
                </c:pt>
                <c:pt idx="3">
                  <c:v>70</c:v>
                </c:pt>
                <c:pt idx="4">
                  <c:v>90</c:v>
                </c:pt>
                <c:pt idx="5">
                  <c:v>75</c:v>
                </c:pt>
                <c:pt idx="6">
                  <c:v>70</c:v>
                </c:pt>
                <c:pt idx="7">
                  <c:v>20</c:v>
                </c:pt>
                <c:pt idx="8">
                  <c:v>90</c:v>
                </c:pt>
                <c:pt idx="9">
                  <c:v>70</c:v>
                </c:pt>
                <c:pt idx="10">
                  <c:v>70</c:v>
                </c:pt>
                <c:pt idx="11">
                  <c:v>1</c:v>
                </c:pt>
                <c:pt idx="12">
                  <c:v>70</c:v>
                </c:pt>
                <c:pt idx="13">
                  <c:v>80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ADC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5900" y="2870200"/>
            <a:ext cx="3810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02124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3403600"/>
            <a:ext cx="5969000" cy="1397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Arial"/>
              </a:rPr>
              <a:t>a.   Team name: </a:t>
            </a:r>
            <a:r>
              <a:rPr sz="1200" b="1">
                <a:solidFill>
                  <a:srgbClr val="202124"/>
                </a:solidFill>
                <a:latin typeface="Arial"/>
              </a:rPr>
              <a:t>BKD KUBO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Arial"/>
              </a:rPr>
              <a:t>b.   Team leader name: </a:t>
            </a:r>
            <a:r>
              <a:rPr sz="1200" b="1">
                <a:solidFill>
                  <a:srgbClr val="202124"/>
                </a:solidFill>
                <a:latin typeface="Arial"/>
              </a:rPr>
              <a:t>Manuel III Ocaña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Arial"/>
              </a:rPr>
              <a:t>c.   Problem Statement: </a:t>
            </a:r>
            <a:r>
              <a:rPr sz="1200" b="1">
                <a:solidFill>
                  <a:srgbClr val="202124"/>
                </a:solidFill>
                <a:latin typeface="Arial"/>
              </a:rPr>
              <a:t>BFSI: Intelligent Risk, Fraud &amp; Financial Experiences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Arial"/>
              </a:rPr>
              <a:t>Members: Manuel III Ocaña — Product Lead &amp; Solution Architect · Elson Mojica — Process &amp; QA Lead (BFSI Operations)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Arial"/>
              </a:rPr>
              <a:t>Solution: InvoiceSentinel, a pre-payment AP fraud &amp; risk desk for PH SMEs</a:t>
            </a:r>
          </a:p>
        </p:txBody>
      </p:sp>
      <p:pic>
        <p:nvPicPr>
          <p:cNvPr id="5" name="Picture 4" descr="team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022600"/>
            <a:ext cx="1168400" cy="1158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600" y="1168400"/>
            <a:ext cx="4318000" cy="3810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Arial"/>
              </a:rPr>
              <a:t>InvoiceSentinel</a:t>
            </a:r>
            <a:r>
              <a:rPr sz="1100" b="0">
                <a:solidFill>
                  <a:srgbClr val="202124"/>
                </a:solidFill>
                <a:latin typeface="Arial"/>
              </a:rPr>
              <a:t> checks every supplier invoice before it is paid and tells the AP analyst </a:t>
            </a:r>
            <a:r>
              <a:rPr sz="1100" b="1">
                <a:solidFill>
                  <a:srgbClr val="202124"/>
                </a:solidFill>
                <a:latin typeface="Arial"/>
              </a:rPr>
              <a:t>PAY, HOLD or VERIFY</a:t>
            </a:r>
            <a:r>
              <a:rPr sz="1100" b="0">
                <a:solidFill>
                  <a:srgbClr val="202124"/>
                </a:solidFill>
                <a:latin typeface="Arial"/>
              </a:rPr>
              <a:t>, with evidence.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Problem:</a:t>
            </a:r>
            <a:r>
              <a:rPr sz="1000" b="0">
                <a:solidFill>
                  <a:srgbClr val="202124"/>
                </a:solidFill>
                <a:latin typeface="Arial"/>
              </a:rPr>
              <a:t> PH ghost receipts: the BIR alleges ₱25.5B in tax losses from 4 ghost firms (2019–21) and ₱1.41B against 23 buyer firms (2025). 68% of organizations saw an AP fraud attempt in 2024 (Basware).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Who:</a:t>
            </a:r>
            <a:r>
              <a:rPr sz="1000" b="0">
                <a:solidFill>
                  <a:srgbClr val="202124"/>
                </a:solidFill>
                <a:latin typeface="Arial"/>
              </a:rPr>
              <a:t> SMEs with no fraud team, where one clerk reviews PDFs by eye.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How:</a:t>
            </a:r>
            <a:r>
              <a:rPr sz="1000" b="0">
                <a:solidFill>
                  <a:srgbClr val="202124"/>
                </a:solidFill>
                <a:latin typeface="Arial"/>
              </a:rPr>
              <a:t> Gemini 3.8 Flash reads the invoice; deterministic code checks vendor master, PO, TIN, BIR RR 7-2024 and split invoices; a Google ADK agent explains in the user's language.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Human in the loop:</a:t>
            </a:r>
            <a:r>
              <a:rPr sz="1000" b="0">
                <a:solidFill>
                  <a:srgbClr val="202124"/>
                </a:solidFill>
                <a:latin typeface="Arial"/>
              </a:rPr>
              <a:t> Approve / Escalate / Request docs, with an audit trail. Nothing is paid or sent automatically.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19200"/>
            <a:ext cx="3962400" cy="2831592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826000" y="3759200"/>
            <a:ext cx="39624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Live dashboard on Cloud Run: KPI cards, risk trend, flag breakdown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193800"/>
            <a:ext cx="2692400" cy="368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800" y="1257300"/>
            <a:ext cx="2540000" cy="355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How is it different from existing ideas?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OCR + rules tools need templates and can't judge "new bank, don't call us".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Generic AI chat over a PDF has no vendor master, no PO, no audit trail.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Opaque fraud scores can't be defended to auditors.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InvoiceSentinel combines template-free Gemini reading with deterministic checks, evidence citations and a human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5800" y="1193800"/>
            <a:ext cx="2692400" cy="368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02000" y="1257300"/>
            <a:ext cx="2540000" cy="355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How will it solve the problem?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Flags the patterns that drain SMEs: ghost vendors, bank-account changes (BEC), duplicates, overbilling, PO mismatches, split invoices.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Ranks the inbox by a deterministic 0–100 score, so high-risk invoices are reviewed first.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Drafts a verification email to the contact on file, never the one on the invoice.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BIR RR 7-2024 checklist keeps ghost receipts out of the books.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193800"/>
            <a:ext cx="2692400" cy="36830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7300"/>
            <a:ext cx="2540000" cy="355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A27A06"/>
                </a:solidFill>
                <a:latin typeface="Arial"/>
              </a:rPr>
              <a:t>USP of the proposed solution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</a:t>
            </a:r>
            <a:r>
              <a:rPr sz="950" b="1">
                <a:solidFill>
                  <a:srgbClr val="202124"/>
                </a:solidFill>
                <a:latin typeface="Arial"/>
              </a:rPr>
              <a:t>Code for facts, AI for judgment:</a:t>
            </a:r>
            <a:r>
              <a:rPr sz="950" b="0">
                <a:solidFill>
                  <a:srgbClr val="202124"/>
                </a:solidFill>
                <a:latin typeface="Arial"/>
              </a:rPr>
              <a:t> same input, same score (14 samples × 3 runs, zero variance).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</a:t>
            </a:r>
            <a:r>
              <a:rPr sz="950" b="1">
                <a:solidFill>
                  <a:srgbClr val="202124"/>
                </a:solidFill>
                <a:latin typeface="Arial"/>
              </a:rPr>
              <a:t>Explainable agent:</a:t>
            </a:r>
            <a:r>
              <a:rPr sz="950" b="0">
                <a:solidFill>
                  <a:srgbClr val="202124"/>
                </a:solidFill>
                <a:latin typeface="Arial"/>
              </a:rPr>
              <a:t> Google ADK agent streams each tool step live and cites evidence IDs.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</a:t>
            </a:r>
            <a:r>
              <a:rPr sz="950" b="1">
                <a:solidFill>
                  <a:srgbClr val="202124"/>
                </a:solidFill>
                <a:latin typeface="Arial"/>
              </a:rPr>
              <a:t>PH-first:</a:t>
            </a:r>
            <a:r>
              <a:rPr sz="950" b="0">
                <a:solidFill>
                  <a:srgbClr val="202124"/>
                </a:solidFill>
                <a:latin typeface="Arial"/>
              </a:rPr>
              <a:t> TIN, 12% VAT, BIR RR 7-2024, GCash/personal payees, Tagalog answers and emails.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</a:t>
            </a:r>
            <a:r>
              <a:rPr sz="950" b="1">
                <a:solidFill>
                  <a:srgbClr val="202124"/>
                </a:solidFill>
                <a:latin typeface="Arial"/>
              </a:rPr>
              <a:t>Affordable:</a:t>
            </a:r>
            <a:r>
              <a:rPr sz="950" b="0">
                <a:solidFill>
                  <a:srgbClr val="202124"/>
                </a:solidFill>
                <a:latin typeface="Arial"/>
              </a:rPr>
              <a:t> ~₱0.31 Gemini cost per invoice.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List of features offered by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168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800" y="1231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Multimodal extraction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Gemini 3.8 Flash reads photos/PDFs into structured JSON (T=0, schema).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68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6600" y="1231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Vendor master &amp; PO matching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Vendor, TIN, bank account, PO, quantities and prices; bank change = critical.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5200" y="1168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1400" y="1231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TIN validation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Format and branch-code checks, compared with the master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600" y="2120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800" y="2184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BIR RR 7-2024 checklist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Required invoice elements with section references; advisory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20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6600" y="2184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Split-invoice detection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Same vendor, close dates, combined total over the approval limit.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5200" y="2120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1400" y="2184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Deterministic risk score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Severity weights + floors; ranked inbox and ₱-at-risk KPIs.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600" y="3073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800" y="3136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Ask the case (Google ADK)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7 read-only tools; live streamed steps; answers end with PAY / HOLD / VERIFY.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073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6600" y="3136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Multilingual + verification email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Replies in English, Tagalog, etc.; email to the contact on file, never auto-sent.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45200" y="30734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1400" y="31369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Try a sample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14 fictional PH invoices, one click, no files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5600" y="4025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800" y="4089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Decisions &amp; audit trail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Approve / Escalate / Request docs with notes; timestamped 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025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6600" y="4089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Vendors &amp; POs page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Edit the master data the checks use; approval limit in Settings.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45200" y="4025900"/>
            <a:ext cx="2717800" cy="863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1400" y="4089400"/>
            <a:ext cx="2565400" cy="736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Accessible, responsive UI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AA contrast, keyboard &amp; focus states, ARIA labels, mobile layouts.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Process flow diagram or Use-case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270000"/>
            <a:ext cx="1498600" cy="1168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9100" y="1320800"/>
            <a:ext cx="1371600" cy="1066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1  Upload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Photo, scan or PDF, or one click on Try a sample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9600" y="1778000"/>
            <a:ext cx="177800" cy="152400"/>
          </a:xfrm>
          <a:prstGeom prst="rightArrow">
            <a:avLst/>
          </a:prstGeom>
          <a:solidFill>
            <a:srgbClr val="A2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82800" y="1270000"/>
            <a:ext cx="1498600" cy="1168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6300" y="1320800"/>
            <a:ext cx="1371600" cy="1066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2  Gemini reads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Fields, line items, payee &amp; bank details as JSON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06800" y="1778000"/>
            <a:ext cx="177800" cy="152400"/>
          </a:xfrm>
          <a:prstGeom prst="rightArrow">
            <a:avLst/>
          </a:prstGeom>
          <a:solidFill>
            <a:srgbClr val="A2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0000" y="1270000"/>
            <a:ext cx="1498600" cy="1168400"/>
          </a:xfrm>
          <a:prstGeom prst="roundRect">
            <a:avLst>
              <a:gd name="adj" fmla="val 10000"/>
            </a:avLst>
          </a:prstGeom>
          <a:solidFill>
            <a:srgbClr val="0B1C2C"/>
          </a:solidFill>
          <a:ln>
            <a:solidFill>
              <a:srgbClr val="A27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3500" y="1320800"/>
            <a:ext cx="1371600" cy="1066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CD116"/>
                </a:solidFill>
                <a:latin typeface="Arial"/>
              </a:rPr>
              <a:t>3  Code checks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Vendor master, PO, TIN, BIR RR 7-2024, split, VAT math → score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34000" y="1778000"/>
            <a:ext cx="177800" cy="152400"/>
          </a:xfrm>
          <a:prstGeom prst="rightArrow">
            <a:avLst/>
          </a:prstGeom>
          <a:solidFill>
            <a:srgbClr val="A2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7200" y="1270000"/>
            <a:ext cx="1498600" cy="1168400"/>
          </a:xfrm>
          <a:prstGeom prst="roundRect">
            <a:avLst>
              <a:gd name="adj" fmla="val 10000"/>
            </a:avLst>
          </a:prstGeom>
          <a:solidFill>
            <a:srgbClr val="0B1C2C"/>
          </a:solidFill>
          <a:ln>
            <a:solidFill>
              <a:srgbClr val="A27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0700" y="1320800"/>
            <a:ext cx="1371600" cy="1066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CD116"/>
                </a:solidFill>
                <a:latin typeface="Arial"/>
              </a:rPr>
              <a:t>4  Agent explains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Ask in any language; ADK agent cites evidence, drafts email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61200" y="1778000"/>
            <a:ext cx="177800" cy="152400"/>
          </a:xfrm>
          <a:prstGeom prst="rightArrow">
            <a:avLst/>
          </a:prstGeom>
          <a:solidFill>
            <a:srgbClr val="A2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4400" y="1270000"/>
            <a:ext cx="1498600" cy="1168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7900" y="1320800"/>
            <a:ext cx="1371600" cy="1066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5  Human decides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Arial"/>
              </a:rPr>
              <a:t>Approve / Escalate / Request docs →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" y="2616200"/>
            <a:ext cx="84328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Use case: AP analyst at an SME receives invoice from known vendor “Northstar IT” (sample 09)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" y="2870200"/>
            <a:ext cx="8432800" cy="203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Upload → Gemini extracts vendor, TIN, PO, totals and the bank account printed on the invoice.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Vendor master check: everything matches except the bank account (invoice Metrobank vs master BPI) → UNUSUAL_PAYMENT_CHANGE, critical, score 90.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Analyst asks in Tagalog “Ligtas ba itong bayaran?” → agent calls vendor, PO, history, TIN and BIR tools → answers HOLD with evidence.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Analyst drafts a Tagalog verification email to the master contact, calls the supplier, and escalates; the decision is logged.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Wireframes/Mock diagrams of the proposed solution (optional)</a:t>
            </a:r>
          </a:p>
        </p:txBody>
      </p:sp>
      <p:pic>
        <p:nvPicPr>
          <p:cNvPr id="4" name="Picture 3" descr="upl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168400"/>
            <a:ext cx="3810000" cy="2450123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55600" y="3657600"/>
            <a:ext cx="38100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Upload: guided stepper + Try a sample grid</a:t>
            </a:r>
          </a:p>
        </p:txBody>
      </p:sp>
      <p:pic>
        <p:nvPicPr>
          <p:cNvPr id="6" name="Picture 5" descr="ca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168400"/>
            <a:ext cx="3327400" cy="2377811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18000" y="3581400"/>
            <a:ext cx="33274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Case: fields, risk cards, matching, decision panel</a:t>
            </a:r>
          </a:p>
        </p:txBody>
      </p:sp>
      <p:pic>
        <p:nvPicPr>
          <p:cNvPr id="8" name="Picture 7" descr="mob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1168400"/>
            <a:ext cx="1058836" cy="22860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97800" y="3479800"/>
            <a:ext cx="11430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Mobile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3886200"/>
            <a:ext cx="71120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Implemented in the live prototype (screens shown are real, not mockups).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Flow: Dashboard → Check an invoice → Case → Decide; Vendors &amp; POs page for master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Architecture diagram of the proposed solution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143000"/>
            <a:ext cx="8432800" cy="30024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1244600"/>
            <a:ext cx="1320800" cy="50800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58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400" y="1270000"/>
            <a:ext cx="1270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0B1C2C"/>
                </a:solidFill>
                <a:latin typeface="Arial"/>
              </a:rPr>
              <a:t>Firebase Hosting</a:t>
            </a:r>
          </a:p>
          <a:p>
            <a:pPr algn="ctr">
              <a:spcAft>
                <a:spcPts val="300"/>
              </a:spcAft>
            </a:pPr>
            <a:r>
              <a:rPr sz="700" b="0">
                <a:solidFill>
                  <a:srgbClr val="5F6368"/>
                </a:solidFill>
                <a:latin typeface="Arial"/>
              </a:rPr>
              <a:t>invoicesentinel.web.app → rewrites to Cloud Run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4089400"/>
            <a:ext cx="843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Firebase Hosting serves invoicesentinel.web.app and rewrites all paths to the Cloud Run web service; the browser calls the API directly (no 60 s Hosting limit on agent streams).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Stateless Next.js and FastAPI containers on Cloud Run (asia-southeast1); state in Firestore and a private Cloud Storage bucket.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Gemini key in Secret Manager; one-command deploy.sh builds both images with Cloud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Technologies to be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193800"/>
            <a:ext cx="84328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800" y="1257300"/>
            <a:ext cx="82804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Google AI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Gemini 3.8 Flash (google-genai SDK): multimodal read, JSON schema, T=0 · Google ADK 2.11: LlmAgent with 7 tools, streamed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600" y="1930400"/>
            <a:ext cx="84328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800" y="1993900"/>
            <a:ext cx="82804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Google Cloud &amp; Firebase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Firebase Hosting (invoicesentinel.web.app → Cloud Run) · Cloud Run (web + API, min-instances 1) · Firestore · Cloud Storage · Secret Manager · Cloud Build · Artifact 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600" y="2667000"/>
            <a:ext cx="84328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800" y="2730500"/>
            <a:ext cx="82804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Backend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Python 3.12 · FastAPI · Pydantic · deterministic rule engine (vendor/PO matching, TIN, BIR RR 7-2024, split detection, scoring) · NDJSON streaming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600" y="3403600"/>
            <a:ext cx="84328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800" y="3467100"/>
            <a:ext cx="82804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Frontend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Next.js 14 · React · TypeScript · Tailwind CSS · Inter · custom SVG charts · responsive, WCAG AA-minded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600" y="4140200"/>
            <a:ext cx="8432800" cy="635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800" y="4203700"/>
            <a:ext cx="8280400" cy="508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Quality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Stability harness (14 fictional samples × 3 runs) · sample generator · Playwright screenshots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Estimated implementation cost (optional)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193800"/>
            <a:ext cx="2540000" cy="11430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800" y="1257300"/>
            <a:ext cx="23876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A27A06"/>
                </a:solidFill>
                <a:latin typeface="Arial"/>
              </a:rPr>
              <a:t>~₱0.31 per invoice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Gemini 3.8 Flash at 2026 promo pricing (~₱0.62 from Jan 2027). FX ₱62.77/US$.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98800" y="1219200"/>
          <a:ext cx="56896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13000"/>
                <a:gridCol w="1066800"/>
                <a:gridCol w="1066800"/>
              </a:tblGrid>
              <a:tr h="254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Invoices / month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Typical user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Model cost 2026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From 2027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Small SME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~₱62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~₱124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Mid-market finance team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~₱623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~₱1,246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50,000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Shared services / bank SME portfolio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~₱16,000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Arial"/>
                        </a:rPr>
                        <a:t>~₱31,000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5600" y="2540000"/>
            <a:ext cx="8432800" cy="241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Infrastructure:</a:t>
            </a:r>
            <a:r>
              <a:rPr sz="1000" b="0">
                <a:solidFill>
                  <a:srgbClr val="202124"/>
                </a:solidFill>
                <a:latin typeface="Arial"/>
              </a:rPr>
              <a:t> Cloud Run scales to zero; at SME volumes usage fits the free tier. For judging, one warm instance per service (min-instances 1): ~US$23 (~₱1,450) per month; set to 0 afterwards.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Storage:</a:t>
            </a:r>
            <a:r>
              <a:rPr sz="1000" b="0">
                <a:solidFill>
                  <a:srgbClr val="202124"/>
                </a:solidFill>
                <a:latin typeface="Arial"/>
              </a:rPr>
              <a:t> Firestore and Cloud Storage cost almost nothing at prototype scale.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</a:t>
            </a:r>
            <a:r>
              <a:rPr sz="1000" b="1">
                <a:solidFill>
                  <a:srgbClr val="202124"/>
                </a:solidFill>
                <a:latin typeface="Arial"/>
              </a:rPr>
              <a:t>Scale levers:</a:t>
            </a:r>
            <a:r>
              <a:rPr sz="1000" b="0">
                <a:solidFill>
                  <a:srgbClr val="202124"/>
                </a:solidFill>
                <a:latin typeface="Arial"/>
              </a:rPr>
              <a:t> Gemini Batch API for overnight payment runs at half the token price; Flash by default.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Arial"/>
              </a:rPr>
              <a:t>•  Source: Gemini Developer API pricing (updated Oct 9, 2026) and Cloud Run pricing. Per-invoice token use is an estimate.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Snapshots of the prototype</a:t>
            </a:r>
          </a:p>
        </p:txBody>
      </p:sp>
      <p:pic>
        <p:nvPicPr>
          <p:cNvPr id="4" name="Picture 3" descr="s_vend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1430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55600" y="27178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Vendor master: bank account mismatch (sample 09)</a:t>
            </a:r>
          </a:p>
        </p:txBody>
      </p:sp>
      <p:pic>
        <p:nvPicPr>
          <p:cNvPr id="6" name="Picture 5" descr="s_ag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430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00400" y="27178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Google ADK agent steps streaming live</a:t>
            </a:r>
          </a:p>
        </p:txBody>
      </p:sp>
      <p:pic>
        <p:nvPicPr>
          <p:cNvPr id="8" name="Picture 7" descr="s_answ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11430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45200" y="27178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Tagalog answer: HOLD with cited evidence</a:t>
            </a:r>
          </a:p>
        </p:txBody>
      </p:sp>
      <p:pic>
        <p:nvPicPr>
          <p:cNvPr id="10" name="Picture 9" descr="s_emai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" y="30734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55600" y="46482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Tagalog verification email to the contact on file</a:t>
            </a:r>
          </a:p>
        </p:txBody>
      </p:sp>
      <p:pic>
        <p:nvPicPr>
          <p:cNvPr id="12" name="Picture 11" descr="s_bi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734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200400" y="46482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BIR RR 7-2024 checklist + TIN validation</a:t>
            </a:r>
          </a:p>
        </p:txBody>
      </p:sp>
      <p:pic>
        <p:nvPicPr>
          <p:cNvPr id="14" name="Picture 13" descr="s_spli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200" y="3073400"/>
            <a:ext cx="2717800" cy="1549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045200" y="4648200"/>
            <a:ext cx="2717800" cy="177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Sample 13 flagged as a split of sample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Prototype Performance report/Benchmarking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04800" y="1117600"/>
          <a:ext cx="4191000" cy="215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3378200"/>
          <a:ext cx="41910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1651000"/>
              </a:tblGrid>
              <a:tr h="2413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 (live, Cloud Run)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Score stability, 14 samples × 3 runs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0 spread, 14/14 in band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Upload → verdict (Gemini + checks)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~18–24 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Agent: first streamed step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~5 s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Agent: full grounded answer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~18–37 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Verification email draft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~20–25 s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48200" y="1168400"/>
          <a:ext cx="4140200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965200"/>
              </a:tblGrid>
              <a:tr h="2476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Flag (expected samples)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Detected</a:t>
                      </a:r>
                    </a:p>
                  </a:txBody>
                  <a:tcPr marL="50800" marR="50800" marT="12700" marB="12700">
                    <a:solidFill>
                      <a:srgbClr val="0B1C2C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GHOST_VENDOR (03, 14)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2 / 2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UNUSUAL_PAYMENT_CHANGE (05, 09)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2 / 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TIN_INVALID (03, 14)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2 / 2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MATH_ERROR (04)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OVERBILLING (06)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DUPLICATE_INVOICE (07)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PO_MISMATCH (06, 10)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2 / 2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MISSING_PO (11)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SPLIT_INVOICE (13 after 12)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50800" marR="50800" marT="12700" marB="12700">
                    <a:solidFill>
                      <a:srgbClr val="F8F9FA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Clean invoices without fraud flags (01, 02, 08, 12)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4 / 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48200" y="3962400"/>
            <a:ext cx="41402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Arial"/>
              </a:rPr>
              <a:t>Fictional PH test set, gemini-3.8-flash, Oct 12–13, 2026. Sample 08 (blurry photo) gets only a low-severity TIN-mismatch flag, not a fraud flag. Small test set: a labeled real-world evaluation set is on the roadmap.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Additional Details/Future Development (if any)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5600" y="1193800"/>
            <a:ext cx="27178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800" y="1257300"/>
            <a:ext cx="2565400" cy="241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Q1 2027 · Pilot-ready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Sign-in with analyst / approver roles (Identity Platform)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Email-inbox intake of supplier bills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CSV import of vendor master and POs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Labeled PH evaluation set; precision/recall per flag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93800"/>
            <a:ext cx="27178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6600" y="1257300"/>
            <a:ext cx="2565400" cy="241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Q2 2027 · Integrations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QuickBooks / Xero bill sync; hold payment on Escalate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Batch review of payment runs (Gemini Batch API)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Bank-account change history per vendor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5200" y="1193800"/>
            <a:ext cx="27178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1400" y="1257300"/>
            <a:ext cx="2565400" cy="241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B1C2C"/>
                </a:solidFill>
                <a:latin typeface="Arial"/>
              </a:rPr>
              <a:t>Later · Ecosystem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Pre-transfer check API for bank SME portals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Claims-document review for insurers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Tagalog / Cebuano UI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Arial"/>
              </a:rPr>
              <a:t>•  BIR ATP / series lookups as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3886200"/>
            <a:ext cx="84328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Arial"/>
              </a:rPr>
              <a:t>Guardrails stay fixed:</a:t>
            </a:r>
            <a:r>
              <a:rPr sz="1000" b="0">
                <a:solidFill>
                  <a:srgbClr val="202124"/>
                </a:solidFill>
                <a:latin typeface="Arial"/>
              </a:rPr>
              <a:t> a person decides every payment, every flag carries evidence, nothing is auto-sent, and the product never claims to certify BIR compliance. Paid-tier Gemini API: content is not used to train Google's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5120" y="660400"/>
            <a:ext cx="8509000" cy="33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Arial"/>
              </a:rPr>
              <a:t>Provide links to your: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193800"/>
            <a:ext cx="8128000" cy="2540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02124"/>
                </a:solidFill>
                <a:latin typeface="Arial"/>
              </a:rPr>
              <a:t>•  GitHub Public Repository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56B8"/>
                </a:solidFill>
                <a:latin typeface="Arial"/>
              </a:rPr>
              <a:t>     https://github.com/BKDKUBO/invoice-sentinel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124"/>
                </a:solidFill>
                <a:latin typeface="Arial"/>
              </a:rPr>
              <a:t>•  Demo Video Link (3 Minutes)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27A06"/>
                </a:solidFill>
                <a:latin typeface="Arial"/>
              </a:rPr>
              <a:t>     https://drive.google.com/file/d/1QeAfyMxYIUnmQdOuLhxhQRP4CmUfL67a/view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124"/>
                </a:solidFill>
                <a:latin typeface="Arial"/>
              </a:rPr>
              <a:t>•  Final Product Link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56B8"/>
                </a:solidFill>
                <a:latin typeface="Arial"/>
              </a:rPr>
              <a:t>     https://invoicesentinel.web.app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Arial"/>
              </a:rPr>
              <a:t>     (Firebase Hosting → Cloud Run; direct: https://invoicesentinel-web-1034883854575.asia-southeast1.run.app)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Arial"/>
              </a:rPr>
              <a:t>Try it: Check an invoice → Try a sample → 09 (known vendor, new bank). Reset demo restores seed data. All data is fictional.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